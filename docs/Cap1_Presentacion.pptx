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Capítulo I. Reemplazar los datos entre corchetes antes de 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general de los cinco puntos del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consecuencias concretas de la fragmentación. Cerrar señalando que las herramientas de IA actuales tampoco resuelven la integración.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flujo señalando dónde se pierde la información entre una etapa y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 del enunciado: el núcleo es el SaaS, la IA es complemento. Insistir en esta separación.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concreto del valor de la IA: no solo dice si el CV está bien, sino qué falta frente a una oferta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PEAS según Russell y Norvig (2022). Un cuadrante por letra.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Advertir que los valores concretos aún deben definirse por 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Conclusión: el agente trabaja con información incompleta y cambiante, no controlada.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Prolog resuelve la parte lógica; el modelo de lenguaje solo redacta la explicación.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resume el punto 1.5: cada tecnología atiende el tipo de tarea para el que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argumentos que sostienen la elección del enfoque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espacio para preguntas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44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44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DISEÑO ARQUITECTÓNICO DEL SISTEMA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8503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inteligente integrador para la gestión y preparación del proceso de búsqueda laboral mediante un modelo SaaS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05840" cy="32004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Privada San Juan Bautista  ·  Escuela Profesional de Ingeniería de Sistemas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[Apellidos, Nombres]  ·  [Apellidos, Nombres]  ·  [Apellidos, Nombres]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[Apellidos, Nombres]  ·  Ica – Perú,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exposición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6420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negocio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842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proceso actual y justificación del uso de 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6151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642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del agente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9352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Desempeño, entorno, actuadores y sensores (PEAS)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35661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593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del entorno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8862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del entorno de tarea del agente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51713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del conocimiento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8371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y reglas en Prolog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76672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546811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5495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IA seleccionado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57881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la arquitectura híbrida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PROBLEMA IDENTIFICADO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repartido en herramientas que no se hablan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busca empleo usa una herramienta distinta para cada actividad del proceso: elabora el CV en un procesador de textos, revisa ofertas en portales, postula en cada plataforma y practica entrevistas por su cuenta. Nada de eso queda conectado.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88920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31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CV, las ofertas y las postulaciones viven en plataformas distintas.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93008" y="2514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2788920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931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cada postulación depende de la memoria del usuario.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45936" y="2514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1968" y="2788920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01968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manual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931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postulante debe deducir por sí mismo qué requisitos calzan con su perfil.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98864" y="2514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54896" y="2788920"/>
            <a:ext cx="475488" cy="47548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54896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54896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limitada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54896" y="3931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evaluación estructurada del desempeño en entrevistas.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83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4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IA que existen hoy analizan el CV, pero funcionan aparte del resto del proceso: no conocen el historial ni el contexto del postulante.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 PROCESO ACTUAL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etapas ejecutadas en herramientas independientes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11096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29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del CV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4963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de textos o plantilla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423160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93008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30752" y="1911096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3075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1929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ofertas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4963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en varios portales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2423160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45936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911096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77456" y="1929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del CV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4963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manual por cada oferta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2423160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98864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36608" y="1911096"/>
            <a:ext cx="384048" cy="384048"/>
          </a:xfrm>
          <a:prstGeom prst="ellipse">
            <a:avLst/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3660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930384" y="1929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Postulación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436608" y="24963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por plataforma o correo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66544" y="3474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304288" y="3694176"/>
            <a:ext cx="384048" cy="384048"/>
          </a:xfrm>
          <a:prstGeom prst="ellipse">
            <a:avLst/>
          </a:prstGeom>
          <a:solidFill>
            <a:srgbClr val="24406E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0428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798064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anota o recuerda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18304" y="4206240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919472" y="3474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57216" y="3694176"/>
            <a:ext cx="384048" cy="384048"/>
          </a:xfrm>
          <a:prstGeom prst="ellipse">
            <a:avLst/>
          </a:prstGeom>
          <a:solidFill>
            <a:srgbClr val="24406E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572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50992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157216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con recursos externos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71232" y="4206240"/>
            <a:ext cx="16459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72400" y="3474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10144" y="3694176"/>
            <a:ext cx="384048" cy="384048"/>
          </a:xfrm>
          <a:prstGeom prst="ellipse">
            <a:avLst/>
          </a:prstGeom>
          <a:solidFill>
            <a:srgbClr val="24406E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10144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010144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sin criterios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497312" y="3154680"/>
            <a:ext cx="0" cy="36576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4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salto entre etapas obliga a copiar información a mano; ningún paso alimenta al siguiente.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SaaS que centraliza el proceso, con la IA como apoyo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E1F2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DEL NEGOCIO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SaaS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24128" y="2825496"/>
            <a:ext cx="128016" cy="128016"/>
          </a:xfrm>
          <a:prstGeom prst="ellipse">
            <a:avLst/>
          </a:prstGeom>
          <a:solidFill>
            <a:srgbClr val="16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perfil profesional y autenticación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24128" y="3300984"/>
            <a:ext cx="128016" cy="128016"/>
          </a:xfrm>
          <a:prstGeom prst="ellipse">
            <a:avLst/>
          </a:prstGeom>
          <a:solidFill>
            <a:srgbClr val="16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218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Creación, versiones y plantillas del CV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24128" y="3776472"/>
            <a:ext cx="128016" cy="128016"/>
          </a:xfrm>
          <a:prstGeom prst="ellipse">
            <a:avLst/>
          </a:prstGeom>
          <a:solidFill>
            <a:srgbClr val="16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6941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seguimiento de postulaciones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24128" y="4251960"/>
            <a:ext cx="128016" cy="128016"/>
          </a:xfrm>
          <a:prstGeom prst="ellipse">
            <a:avLst/>
          </a:prstGeom>
          <a:solidFill>
            <a:srgbClr val="16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de entrevista e historial de resultados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24128" y="4727448"/>
            <a:ext cx="128016" cy="128016"/>
          </a:xfrm>
          <a:prstGeom prst="ellipse">
            <a:avLst/>
          </a:prstGeom>
          <a:solidFill>
            <a:srgbClr val="16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46451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 y pagos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1600200"/>
            <a:ext cx="5056632" cy="3840480"/>
          </a:xfrm>
          <a:prstGeom prst="roundRect">
            <a:avLst>
              <a:gd name="adj" fmla="val 1905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0" y="1874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APOYO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IA contextual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876288" y="2825496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CV y sugiere mejoras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76288" y="3300984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3218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perfil con los requisitos de una oferta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76288" y="3776472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3694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preguntas de entrevista según el puesto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425196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4169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las respuestas del usuario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876288" y="4727448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consultas sobre el proceso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4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no es el núcleo del negocio: es un componente que mejora la experiencia y facilita la toma de decisiones.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 JUSTIFICACIÓN DEL USO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entre el CV y los requisitos de la oferta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analizada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77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Frontend Junior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ANÁLISIS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2057400"/>
            <a:ext cx="73426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2057400"/>
            <a:ext cx="6400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057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221284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20574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Evidenciado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06240" y="2624328"/>
            <a:ext cx="73426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624328"/>
            <a:ext cx="6400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26243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277977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26243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Evidenciado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206240" y="3191256"/>
            <a:ext cx="73426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191256"/>
            <a:ext cx="6400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31912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0" y="334670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31912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Evidenciado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206240" y="3758184"/>
            <a:ext cx="73426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3758184"/>
            <a:ext cx="64008" cy="475488"/>
          </a:xfrm>
          <a:prstGeom prst="rect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37581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0" y="3913632"/>
            <a:ext cx="164592" cy="164592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37581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evidenciado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206240" y="4325112"/>
            <a:ext cx="73426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4325112"/>
            <a:ext cx="64008" cy="475488"/>
          </a:xfrm>
          <a:prstGeom prst="rect">
            <a:avLst/>
          </a:prstGeom>
          <a:solidFill>
            <a:srgbClr val="C44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0560" y="43251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98080" y="4480560"/>
            <a:ext cx="164592" cy="164592"/>
          </a:xfrm>
          <a:prstGeom prst="ellipse">
            <a:avLst/>
          </a:prstGeom>
          <a:solidFill>
            <a:srgbClr val="C44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43251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evidenciado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206240" y="5029200"/>
            <a:ext cx="7342632" cy="914400"/>
          </a:xfrm>
          <a:prstGeom prst="roundRect">
            <a:avLst>
              <a:gd name="adj" fmla="val 8000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80560" y="513892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8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del asistente:  «Tu CV no evidencia experiencia suficiente con React. Si trabajaste en proyectos académicos con esa tecnología, incorpóralos en la sección de proyectos».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ESPECIFICACIÓN DEL AGENTE INTELIGENTE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PEAS del asistente profesional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6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83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Desempeño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23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y coherencia de las recomendaciones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y tiempo de respuesta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Correspondencia entre CV y oferta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retroalimentación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105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44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242048" y="1883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Entorno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42048" y="2423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postulante y su perfil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ofertas y postulaciones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simuladas e historial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servicio de 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593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F5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032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— Actuadores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5720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recomendaciones de mejora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nivel de correspondencia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preguntas de entrevista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respuestas y retroalimentar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70332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9593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A7B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4032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— Sensores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457200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y contenido del CV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las ofertas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en entrevistas simuladas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 historial de postulaciones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propuestos para medir el desempeño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600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ESPERADO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Correspondencia CV–oferta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96596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requisitos identificados correctamente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0" y="211226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21122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6791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67919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respuesta del asistente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0" y="2825496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2825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39242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39242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recomendaciones consideradas útiles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0" y="353872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0" y="35387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105656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1056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10565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en la clasificación de coincidencias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0" y="425196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4251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818888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8188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81888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satisfacción declarado por el usuario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01200" y="496519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0" y="4965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esperados se fijarán una vez definidos los instrumentos y las condiciones de medición.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CLASIFICACIÓN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del entorno del agente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72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observable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572768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572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16568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Estocástico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359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Episódico / secuencial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591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2359152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2359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 / dinámico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16568" y="23591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14553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Discreto / continuo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145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36208" y="3145536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528" y="314553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agentes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16568" y="3145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agente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Conocido / desconocido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 conocido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36208" y="3931920"/>
            <a:ext cx="5330952" cy="640080"/>
          </a:xfrm>
          <a:prstGeom prst="roundRect">
            <a:avLst>
              <a:gd name="adj" fmla="val 11429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8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según Russell y Norvig (2022)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05840" y="51937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entorno es parcialmente observable, estocástico, secuencial, dinámico, discreto y parcialmente conocido.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REPRESENTACIÓN DEL CONOCIMIENTO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Hechos y reglas en Prolog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87452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Habilidades del usuario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tiene_habilidad(juan, javascript).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tiene_habilidad(juan, html).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tiene_habilidad(juan, css).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tiene_habilidad(juan, git).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Requisitos de una oferta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requiere(frontend_junior, javascript).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requiere(frontend_junior, react).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Regla de coincidencia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cumple_requisito(Usuario, Oferta, Habilidad) :-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tiene_habilidad(Usuario, Habilidad),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requiere(Oferta, Habilidad).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consulta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86600" y="2194560"/>
            <a:ext cx="4462272" cy="457200"/>
          </a:xfrm>
          <a:prstGeom prst="roundRect">
            <a:avLst>
              <a:gd name="adj" fmla="val 16000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234086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2761488"/>
            <a:ext cx="4462272" cy="457200"/>
          </a:xfrm>
          <a:prstGeom prst="roundRect">
            <a:avLst>
              <a:gd name="adj" fmla="val 16000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290779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86600" y="3328416"/>
            <a:ext cx="4462272" cy="457200"/>
          </a:xfrm>
          <a:prstGeom prst="roundRect">
            <a:avLst>
              <a:gd name="adj" fmla="val 16000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3474720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3328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328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3895344"/>
            <a:ext cx="4462272" cy="457200"/>
          </a:xfrm>
          <a:prstGeom prst="roundRect">
            <a:avLst>
              <a:gd name="adj" fmla="val 16000"/>
            </a:avLst>
          </a:prstGeom>
          <a:solidFill>
            <a:srgbClr val="EAF7F4"/>
          </a:solidFill>
          <a:ln w="12700">
            <a:solidFill>
              <a:srgbClr val="BFE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404164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3895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8953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4462272"/>
            <a:ext cx="4462272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0CFC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4608576"/>
            <a:ext cx="164592" cy="164592"/>
          </a:xfrm>
          <a:prstGeom prst="ellipse">
            <a:avLst/>
          </a:prstGeom>
          <a:solidFill>
            <a:srgbClr val="C44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4462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4462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evidenciado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5120640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este resultado determinístico, el modelo generativo redacta la recomendación en lenguaje natural.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ENFOQUE SELECCIONADO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híbrida: reglas simbólicas + IA generativa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0" y="1536192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16264A"/>
          </a:solidFill>
          <a:ln w="12700">
            <a:solidFill>
              <a:srgbClr val="16264A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54880" y="15361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084832"/>
            <a:ext cx="0" cy="292608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23360" y="237744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24406E"/>
          </a:solidFill>
          <a:ln w="12700">
            <a:solidFill>
              <a:srgbClr val="24406E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023360" y="23774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944368"/>
            <a:ext cx="0" cy="210312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154680"/>
            <a:ext cx="5760720" cy="0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154680"/>
            <a:ext cx="0" cy="320040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0" y="3154680"/>
            <a:ext cx="0" cy="320040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4440" y="34747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EAF7F4"/>
          </a:solidFill>
          <a:ln w="12700">
            <a:solidFill>
              <a:srgbClr val="EAF7F4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234440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· representación simbólica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502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Hechos, reglas y relaciones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CV–oferta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determinísticos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5160" y="34747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EDF1FB"/>
          </a:solidFill>
          <a:ln w="12700">
            <a:solidFill>
              <a:srgbClr val="EDF1FB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95160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 generativa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9502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lenguaje natural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 recomendaciones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respuestas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4800600"/>
            <a:ext cx="0" cy="246888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4800600"/>
            <a:ext cx="0" cy="246888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5047488"/>
            <a:ext cx="5760720" cy="0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5047488"/>
            <a:ext cx="0" cy="210312"/>
          </a:xfrm>
          <a:prstGeom prst="line">
            <a:avLst/>
          </a:prstGeom>
          <a:noFill/>
          <a:ln w="25400">
            <a:solidFill>
              <a:srgbClr val="A8B6D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23360" y="525780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023360" y="52578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al usuario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JUSTIFICACIÓN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conviene el enfoque híbrido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836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96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requisitos y habilidades se mantiene aparte del modelo generativo.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27632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8836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496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control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Prolog fijan resultados que no deberían depender de una respuesta generada.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27632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836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496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adecuado de la 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lenguaje se emplea donde aporta más: comprender, redactar y retroalimentar.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05456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79776" y="4096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79776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779776" y="4709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del enunciado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79776" y="5138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queda como asistente contextual; el núcleo sigue siendo la gestión del proceso.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6208" y="38404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1E8F5"/>
            </a:solidFill>
            <a:prstDash val="solid"/>
          </a:ln>
          <a:effectLst>
            <a:outerShdw sx="100000" sy="100000" kx="0" ky="0" algn="bl" rotWithShape="0" blurRad="101600" dist="12700" dir="5400000">
              <a:srgbClr val="8494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0528" y="4096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4709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5138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pueden añadir funciones del asistente sin modificar el núcleo de la plataforma.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244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7830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entorno para todo el proceso de búsqueda laboral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0160" y="3447288"/>
            <a:ext cx="36576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3337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fragmentadas en herramientas que no se comunican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280160" y="4105656"/>
            <a:ext cx="36576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39959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995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que centraliza CV, postulaciones y entrevistas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280160" y="4764024"/>
            <a:ext cx="36576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08760" y="465429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46542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contextual especificado con el esquema PEAS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80160" y="5422392"/>
            <a:ext cx="36576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08760" y="531266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53126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híbrida: Prolog para las reglas, IA generativa para el lenguaje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A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integrador para la búsqueda laboral</dc:title>
  <dc:subject>PptxGenJS Presentation</dc:subject>
  <dc:creator/>
  <cp:lastModifiedBy/>
  <cp:revision>1</cp:revision>
  <dcterms:created xsi:type="dcterms:W3CDTF">2026-09-17T06:26:14Z</dcterms:created>
  <dcterms:modified xsi:type="dcterms:W3CDTF">2026-09-17T06:26:14Z</dcterms:modified>
</cp:coreProperties>
</file>